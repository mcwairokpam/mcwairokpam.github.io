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</p:sldMasterIdLst>
  <p:notesMasterIdLst>
    <p:notesMasterId r:id="rId29"/>
  </p:notesMasterIdLst>
  <p:sldIdLst>
    <p:sldId id="256" r:id="rId3"/>
    <p:sldId id="325" r:id="rId4"/>
    <p:sldId id="258" r:id="rId5"/>
    <p:sldId id="314" r:id="rId6"/>
    <p:sldId id="317" r:id="rId7"/>
    <p:sldId id="259" r:id="rId8"/>
    <p:sldId id="260" r:id="rId9"/>
    <p:sldId id="261" r:id="rId10"/>
    <p:sldId id="326" r:id="rId11"/>
    <p:sldId id="328" r:id="rId12"/>
    <p:sldId id="337" r:id="rId13"/>
    <p:sldId id="340" r:id="rId14"/>
    <p:sldId id="329" r:id="rId15"/>
    <p:sldId id="336" r:id="rId16"/>
    <p:sldId id="334" r:id="rId17"/>
    <p:sldId id="319" r:id="rId18"/>
    <p:sldId id="330" r:id="rId19"/>
    <p:sldId id="331" r:id="rId20"/>
    <p:sldId id="332" r:id="rId21"/>
    <p:sldId id="324" r:id="rId22"/>
    <p:sldId id="333" r:id="rId23"/>
    <p:sldId id="320" r:id="rId24"/>
    <p:sldId id="323" r:id="rId25"/>
    <p:sldId id="322" r:id="rId26"/>
    <p:sldId id="321" r:id="rId27"/>
    <p:sldId id="335" r:id="rId28"/>
  </p:sldIdLst>
  <p:sldSz cx="12192000" cy="6858000"/>
  <p:notesSz cx="6858000" cy="99472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43" autoAdjust="0"/>
    <p:restoredTop sz="94674"/>
  </p:normalViewPr>
  <p:slideViewPr>
    <p:cSldViewPr snapToGrid="0">
      <p:cViewPr varScale="1">
        <p:scale>
          <a:sx n="78" d="100"/>
          <a:sy n="78" d="100"/>
        </p:scale>
        <p:origin x="104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5FEBD27-9D12-44E9-ABE8-A0E3AE17417F}" type="doc">
      <dgm:prSet loTypeId="urn:microsoft.com/office/officeart/2005/8/layout/chevron1" loCatId="process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FBB5A583-A5D4-4F90-AD21-7B31D00F1C8D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</a:p>
      </dgm:t>
    </dgm:pt>
    <dgm:pt modelId="{5E1BB919-E1AA-4B69-8782-4D5A553E98C4}" type="parTrans" cxnId="{2DB54B03-707E-46C3-9CD2-8790A1DD9626}">
      <dgm:prSet/>
      <dgm:spPr/>
      <dgm:t>
        <a:bodyPr/>
        <a:lstStyle/>
        <a:p>
          <a:endParaRPr lang="en-IN"/>
        </a:p>
      </dgm:t>
    </dgm:pt>
    <dgm:pt modelId="{30FCF18E-9498-4C00-8518-5F81502026A2}" type="sibTrans" cxnId="{2DB54B03-707E-46C3-9CD2-8790A1DD9626}">
      <dgm:prSet/>
      <dgm:spPr/>
      <dgm:t>
        <a:bodyPr/>
        <a:lstStyle/>
        <a:p>
          <a:endParaRPr lang="en-IN"/>
        </a:p>
      </dgm:t>
    </dgm:pt>
    <dgm:pt modelId="{2B48E28D-183A-47D7-BA09-0AD281AB9CCA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</a:p>
      </dgm:t>
    </dgm:pt>
    <dgm:pt modelId="{F5E8FD91-BF13-4794-B739-0034F14219F4}" type="parTrans" cxnId="{526A811E-887B-4617-9852-8613C41E6498}">
      <dgm:prSet/>
      <dgm:spPr/>
      <dgm:t>
        <a:bodyPr/>
        <a:lstStyle/>
        <a:p>
          <a:endParaRPr lang="en-IN"/>
        </a:p>
      </dgm:t>
    </dgm:pt>
    <dgm:pt modelId="{54E3D1B5-21D4-47AE-9144-1BB831919415}" type="sibTrans" cxnId="{526A811E-887B-4617-9852-8613C41E6498}">
      <dgm:prSet/>
      <dgm:spPr/>
      <dgm:t>
        <a:bodyPr/>
        <a:lstStyle/>
        <a:p>
          <a:endParaRPr lang="en-IN"/>
        </a:p>
      </dgm:t>
    </dgm:pt>
    <dgm:pt modelId="{15B54B7B-E730-45B2-AE39-E909C229D893}">
      <dgm:prSet phldrT="[Text]" phldr="0"/>
      <dgm:spPr/>
      <dgm:t>
        <a:bodyPr/>
        <a:lstStyle/>
        <a:p>
          <a:r>
            <a:rPr lang="en-IN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</a:p>
      </dgm:t>
    </dgm:pt>
    <dgm:pt modelId="{07773B16-049E-4487-9907-5A39487DB9C8}" type="parTrans" cxnId="{BFB5360A-9F3C-4C27-A853-1C67351EB199}">
      <dgm:prSet/>
      <dgm:spPr/>
      <dgm:t>
        <a:bodyPr/>
        <a:lstStyle/>
        <a:p>
          <a:endParaRPr lang="en-IN"/>
        </a:p>
      </dgm:t>
    </dgm:pt>
    <dgm:pt modelId="{2F166340-CD47-4360-90CA-D85F96E2CBA6}" type="sibTrans" cxnId="{BFB5360A-9F3C-4C27-A853-1C67351EB199}">
      <dgm:prSet/>
      <dgm:spPr/>
      <dgm:t>
        <a:bodyPr/>
        <a:lstStyle/>
        <a:p>
          <a:endParaRPr lang="en-IN"/>
        </a:p>
      </dgm:t>
    </dgm:pt>
    <dgm:pt modelId="{3683F73B-1665-43E0-869C-505A178F64E3}" type="pres">
      <dgm:prSet presAssocID="{75FEBD27-9D12-44E9-ABE8-A0E3AE17417F}" presName="Name0" presStyleCnt="0">
        <dgm:presLayoutVars>
          <dgm:dir/>
          <dgm:animLvl val="lvl"/>
          <dgm:resizeHandles val="exact"/>
        </dgm:presLayoutVars>
      </dgm:prSet>
      <dgm:spPr/>
    </dgm:pt>
    <dgm:pt modelId="{E79B5594-171C-4438-9EF4-E41128A15D6C}" type="pres">
      <dgm:prSet presAssocID="{FBB5A583-A5D4-4F90-AD21-7B31D00F1C8D}" presName="parTxOnly" presStyleLbl="node1" presStyleIdx="0" presStyleCnt="3" custLinFactX="-3470" custLinFactNeighborX="-100000" custLinFactNeighborY="-3809">
        <dgm:presLayoutVars>
          <dgm:chMax val="0"/>
          <dgm:chPref val="0"/>
          <dgm:bulletEnabled val="1"/>
        </dgm:presLayoutVars>
      </dgm:prSet>
      <dgm:spPr/>
    </dgm:pt>
    <dgm:pt modelId="{01B5E0E1-DDA2-4A18-8A83-D80D1C26610C}" type="pres">
      <dgm:prSet presAssocID="{30FCF18E-9498-4C00-8518-5F81502026A2}" presName="parTxOnlySpace" presStyleCnt="0"/>
      <dgm:spPr/>
    </dgm:pt>
    <dgm:pt modelId="{1438A528-6DF2-4911-8FEF-77FC085121EB}" type="pres">
      <dgm:prSet presAssocID="{2B48E28D-183A-47D7-BA09-0AD281AB9CCA}" presName="parTxOnly" presStyleLbl="node1" presStyleIdx="1" presStyleCnt="3">
        <dgm:presLayoutVars>
          <dgm:chMax val="0"/>
          <dgm:chPref val="0"/>
          <dgm:bulletEnabled val="1"/>
        </dgm:presLayoutVars>
      </dgm:prSet>
      <dgm:spPr/>
    </dgm:pt>
    <dgm:pt modelId="{8CE2099B-D4C9-4CC1-9549-AA13CB63B2F0}" type="pres">
      <dgm:prSet presAssocID="{54E3D1B5-21D4-47AE-9144-1BB831919415}" presName="parTxOnlySpace" presStyleCnt="0"/>
      <dgm:spPr/>
    </dgm:pt>
    <dgm:pt modelId="{8E395E60-E590-4B3A-AE30-57DF564AF735}" type="pres">
      <dgm:prSet presAssocID="{15B54B7B-E730-45B2-AE39-E909C229D893}" presName="parTxOnly" presStyleLbl="node1" presStyleIdx="2" presStyleCnt="3" custLinFactX="-7529" custLinFactNeighborX="-100000">
        <dgm:presLayoutVars>
          <dgm:chMax val="0"/>
          <dgm:chPref val="0"/>
          <dgm:bulletEnabled val="1"/>
        </dgm:presLayoutVars>
      </dgm:prSet>
      <dgm:spPr/>
    </dgm:pt>
  </dgm:ptLst>
  <dgm:cxnLst>
    <dgm:cxn modelId="{2DB54B03-707E-46C3-9CD2-8790A1DD9626}" srcId="{75FEBD27-9D12-44E9-ABE8-A0E3AE17417F}" destId="{FBB5A583-A5D4-4F90-AD21-7B31D00F1C8D}" srcOrd="0" destOrd="0" parTransId="{5E1BB919-E1AA-4B69-8782-4D5A553E98C4}" sibTransId="{30FCF18E-9498-4C00-8518-5F81502026A2}"/>
    <dgm:cxn modelId="{BFB5360A-9F3C-4C27-A853-1C67351EB199}" srcId="{75FEBD27-9D12-44E9-ABE8-A0E3AE17417F}" destId="{15B54B7B-E730-45B2-AE39-E909C229D893}" srcOrd="2" destOrd="0" parTransId="{07773B16-049E-4487-9907-5A39487DB9C8}" sibTransId="{2F166340-CD47-4360-90CA-D85F96E2CBA6}"/>
    <dgm:cxn modelId="{526A811E-887B-4617-9852-8613C41E6498}" srcId="{75FEBD27-9D12-44E9-ABE8-A0E3AE17417F}" destId="{2B48E28D-183A-47D7-BA09-0AD281AB9CCA}" srcOrd="1" destOrd="0" parTransId="{F5E8FD91-BF13-4794-B739-0034F14219F4}" sibTransId="{54E3D1B5-21D4-47AE-9144-1BB831919415}"/>
    <dgm:cxn modelId="{1E5FA9B6-B10A-4F95-BB5E-FD7943424117}" type="presOf" srcId="{FBB5A583-A5D4-4F90-AD21-7B31D00F1C8D}" destId="{E79B5594-171C-4438-9EF4-E41128A15D6C}" srcOrd="0" destOrd="0" presId="urn:microsoft.com/office/officeart/2005/8/layout/chevron1"/>
    <dgm:cxn modelId="{B37099BD-0136-4E1D-826E-3402577D15EF}" type="presOf" srcId="{75FEBD27-9D12-44E9-ABE8-A0E3AE17417F}" destId="{3683F73B-1665-43E0-869C-505A178F64E3}" srcOrd="0" destOrd="0" presId="urn:microsoft.com/office/officeart/2005/8/layout/chevron1"/>
    <dgm:cxn modelId="{3C7637CF-4437-42A7-B9F4-125CD31820B2}" type="presOf" srcId="{15B54B7B-E730-45B2-AE39-E909C229D893}" destId="{8E395E60-E590-4B3A-AE30-57DF564AF735}" srcOrd="0" destOrd="0" presId="urn:microsoft.com/office/officeart/2005/8/layout/chevron1"/>
    <dgm:cxn modelId="{C79FBBD5-4746-4AB7-9AB1-9890A8FE21CF}" type="presOf" srcId="{2B48E28D-183A-47D7-BA09-0AD281AB9CCA}" destId="{1438A528-6DF2-4911-8FEF-77FC085121EB}" srcOrd="0" destOrd="0" presId="urn:microsoft.com/office/officeart/2005/8/layout/chevron1"/>
    <dgm:cxn modelId="{22F20EEB-B9AC-43FD-AFF2-58430BD29426}" type="presParOf" srcId="{3683F73B-1665-43E0-869C-505A178F64E3}" destId="{E79B5594-171C-4438-9EF4-E41128A15D6C}" srcOrd="0" destOrd="0" presId="urn:microsoft.com/office/officeart/2005/8/layout/chevron1"/>
    <dgm:cxn modelId="{853E90DA-EC85-4FE5-899F-060435D06639}" type="presParOf" srcId="{3683F73B-1665-43E0-869C-505A178F64E3}" destId="{01B5E0E1-DDA2-4A18-8A83-D80D1C26610C}" srcOrd="1" destOrd="0" presId="urn:microsoft.com/office/officeart/2005/8/layout/chevron1"/>
    <dgm:cxn modelId="{C552E483-436F-4190-9C9E-4032858E185A}" type="presParOf" srcId="{3683F73B-1665-43E0-869C-505A178F64E3}" destId="{1438A528-6DF2-4911-8FEF-77FC085121EB}" srcOrd="2" destOrd="0" presId="urn:microsoft.com/office/officeart/2005/8/layout/chevron1"/>
    <dgm:cxn modelId="{4750DB51-1E41-49FB-B30E-06DDCB0C1C8D}" type="presParOf" srcId="{3683F73B-1665-43E0-869C-505A178F64E3}" destId="{8CE2099B-D4C9-4CC1-9549-AA13CB63B2F0}" srcOrd="3" destOrd="0" presId="urn:microsoft.com/office/officeart/2005/8/layout/chevron1"/>
    <dgm:cxn modelId="{16963410-9E8B-4D98-A17D-2B41C0AFC165}" type="presParOf" srcId="{3683F73B-1665-43E0-869C-505A178F64E3}" destId="{8E395E60-E590-4B3A-AE30-57DF564AF735}" srcOrd="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B5594-171C-4438-9EF4-E41128A15D6C}">
      <dsp:nvSpPr>
        <dsp:cNvPr id="0" name=""/>
        <dsp:cNvSpPr/>
      </dsp:nvSpPr>
      <dsp:spPr bwMode="white">
        <a:xfrm>
          <a:off x="82778" y="0"/>
          <a:ext cx="1267659" cy="2875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</a:p>
      </dsp:txBody>
      <dsp:txXfrm>
        <a:off x="82778" y="0"/>
        <a:ext cx="1267659" cy="287565"/>
      </dsp:txXfrm>
    </dsp:sp>
    <dsp:sp modelId="{1438A528-6DF2-4911-8FEF-77FC085121EB}">
      <dsp:nvSpPr>
        <dsp:cNvPr id="0" name=""/>
        <dsp:cNvSpPr/>
      </dsp:nvSpPr>
      <dsp:spPr bwMode="white">
        <a:xfrm>
          <a:off x="1140893" y="0"/>
          <a:ext cx="1267659" cy="2875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</a:p>
      </dsp:txBody>
      <dsp:txXfrm>
        <a:off x="1140893" y="0"/>
        <a:ext cx="1267659" cy="287565"/>
      </dsp:txXfrm>
    </dsp:sp>
    <dsp:sp modelId="{8E395E60-E590-4B3A-AE30-57DF564AF735}">
      <dsp:nvSpPr>
        <dsp:cNvPr id="0" name=""/>
        <dsp:cNvSpPr/>
      </dsp:nvSpPr>
      <dsp:spPr bwMode="white">
        <a:xfrm>
          <a:off x="2281787" y="0"/>
          <a:ext cx="1267659" cy="287565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21336" rIns="21336" bIns="21336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6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</a:t>
          </a:r>
        </a:p>
      </dsp:txBody>
      <dsp:txXfrm>
        <a:off x="2281787" y="0"/>
        <a:ext cx="1267659" cy="28756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99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516A7B-EA12-4CFF-BE3C-F06CDE5D04EB}" type="datetimeFigureOut">
              <a:rPr lang="en-IN" smtClean="0"/>
              <a:t>24-01-2026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44500" y="1243013"/>
            <a:ext cx="5969000" cy="33575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787126"/>
            <a:ext cx="5486400" cy="391674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9448185"/>
            <a:ext cx="2971800" cy="499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DAC47E-ACDB-4968-89E1-37F43555034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3</a:t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4</a:t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10</a:t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11</a:t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5DA73D-3958-48AE-9B3B-2B3C6CA25B0C}" type="slidenum">
              <a:rPr lang="en-IN" smtClean="0"/>
              <a:t>12</a:t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13</a:t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14</a:t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20</a:t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21</a:t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DAC47E-ACDB-4968-89E1-37F435550346}" type="slidenum">
              <a:rPr lang="en-IN" smtClean="0"/>
              <a:t>25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C41E7E-8248-44BF-9E9D-5F8620519846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9100B2-CAE5-4D2F-A3EF-148FE296BECE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3DD2DC-D7A5-423C-A59D-38D323F0E3AB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CEFDFF-9F4B-4343-A128-DD8EB4E9AA1E}" type="datetime1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34F325-67DC-4EC2-9FD8-68076083EB15}" type="datetime1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80195-816A-4DF4-8C3D-63D8262A6F81}" type="datetime1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A77180-530E-4923-A9FE-D59600A67E44}" type="datetime1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C04BA1-E09E-491E-A426-A33B220ED828}" type="datetime1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62D44B-2EE7-4565-B979-4B7181559FA3}" type="datetime1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EB4819-7E12-435C-A73B-A79D46E8EECA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AB4781-A2B7-469A-9445-C5262BC8A021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7C41E7E-8248-44BF-9E9D-5F8620519846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29100B2-CAE5-4D2F-A3EF-148FE296BECE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33DD2DC-D7A5-423C-A59D-38D323F0E3AB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DCEFDFF-9F4B-4343-A128-DD8EB4E9AA1E}" type="datetime1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834F325-67DC-4EC2-9FD8-68076083EB15}" type="datetime1">
              <a:rPr lang="en-IN" smtClean="0"/>
              <a:t>24-01-2026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5B80195-816A-4DF4-8C3D-63D8262A6F81}" type="datetime1">
              <a:rPr lang="en-IN" smtClean="0"/>
              <a:t>24-01-2026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A77180-530E-4923-A9FE-D59600A67E44}" type="datetime1">
              <a:rPr lang="en-IN" smtClean="0"/>
              <a:t>24-01-2026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9C04BA1-E09E-491E-A426-A33B220ED828}" type="datetime1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62D44B-2EE7-4565-B979-4B7181559FA3}" type="datetime1">
              <a:rPr lang="en-IN" smtClean="0"/>
              <a:t>24-01-2026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EEB4819-7E12-435C-A73B-A79D46E8EECA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0AB4781-A2B7-469A-9445-C5262BC8A021}" type="datetime1">
              <a:rPr lang="en-IN" smtClean="0"/>
              <a:t>24-01-2026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Finance Department, Government of Manipur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Finance Department, Government of Manipur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2D34698-7838-4524-BFCD-61DCACDD7BD9}" type="slidenum">
              <a:rPr lang="en-IN" smtClean="0"/>
              <a:t>‹#›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Finance Department, Government of Manipur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2D34698-7838-4524-BFCD-61DCACDD7BD9}" type="slidenum">
              <a:rPr lang="en-IN" smtClean="0"/>
              <a:t>‹#›</a:t>
            </a:fld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OM_dated_13_07_2023_Just_in_Time_release_of_CSS_funds_through_e_kuber_platform_of_RBI.pdf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hyperlink" Target="OM%20SNA%20SPARSH%20implementation%20Manipur_5%20May%202025%20(2).pdf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1090" y="722376"/>
            <a:ext cx="10688715" cy="4736592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MEETING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“SNA SPARSH IMPLEMENTATION IN MANIPUR’’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 JANUARY 2026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990" y="1000896"/>
            <a:ext cx="11701848" cy="5355453"/>
          </a:xfrm>
        </p:spPr>
        <p:txBody>
          <a:bodyPr>
            <a:normAutofit/>
          </a:bodyPr>
          <a:lstStyle/>
          <a:p>
            <a:pPr lvl="1" algn="just">
              <a:lnSpc>
                <a:spcPct val="150000"/>
              </a:lnSpc>
            </a:pP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l">
              <a:lnSpc>
                <a:spcPct val="100000"/>
              </a:lnSpc>
            </a:pP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lnSpc>
                <a:spcPct val="100000"/>
              </a:lnSpc>
              <a:buFont typeface="Wingdings" panose="05000000000000000000" pitchFamily="2" charset="2"/>
              <a:buChar char="q"/>
            </a:pP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 algn="l"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/>
              <a:t>Finance Department, Government of Manipur</a:t>
            </a:r>
            <a:endParaRPr lang="en-IN" sz="1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2"/>
          <p:cNvSpPr txBox="1"/>
          <p:nvPr/>
        </p:nvSpPr>
        <p:spPr>
          <a:xfrm>
            <a:off x="345990" y="186853"/>
            <a:ext cx="11331145" cy="8140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4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0000"/>
              </a:lnSpc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</a:pPr>
            <a:r>
              <a:rPr lang="en-US" sz="5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SNA SPARSH?</a:t>
            </a:r>
          </a:p>
          <a:p>
            <a:pPr marL="800100" lvl="1" indent="-342900" algn="l">
              <a:lnSpc>
                <a:spcPct val="120000"/>
              </a:lnSpc>
              <a:buFont typeface="Wingdings" panose="05000000000000000000" pitchFamily="2" charset="2"/>
              <a:buChar char="v"/>
            </a:pPr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678426" y="1417070"/>
            <a:ext cx="11167584" cy="45231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 (Single Nodal Agency) SPARSH (</a:t>
            </a:r>
            <a:r>
              <a:rPr lang="hi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समयोचित प्रणाली एकीकृत शीघ्र हस्तांतरण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Real </a:t>
            </a:r>
            <a:r>
              <a:rPr lang="en-US" sz="22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time System of Integrated Quick Transfers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</a:p>
          <a:p>
            <a:pPr marL="457200" indent="-457200">
              <a:buFont typeface="+mj-lt"/>
              <a:buAutoNum type="arabicPeriod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altLang="en-US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Rule 230 (7) of GFR 2017 </a:t>
            </a:r>
            <a:r>
              <a:rPr lang="en-IN" alt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prescribes that</a:t>
            </a:r>
            <a:r>
              <a:rPr lang="en-IN" altLang="en-US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“The principles of </a:t>
            </a:r>
            <a:r>
              <a:rPr lang="en-IN" altLang="en-US" sz="2200" b="1" i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‘just in time release’</a:t>
            </a:r>
            <a:r>
              <a:rPr lang="en-IN" altLang="en-US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alt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should be applied for releases in respect of all payments to the extent possible”</a:t>
            </a:r>
            <a:r>
              <a:rPr lang="en-IN" altLang="en-US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alt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 to bring about</a:t>
            </a:r>
            <a:r>
              <a:rPr lang="en-IN" altLang="en-US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efficiency in cash management at both Centre and States level.</a:t>
            </a:r>
          </a:p>
          <a:p>
            <a:pPr marL="457200" indent="-457200">
              <a:buFont typeface="+mj-lt"/>
              <a:buAutoNum type="arabicPeriod"/>
            </a:pPr>
            <a:endParaRPr lang="en-IN" altLang="en-US" sz="22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altLang="en-US" sz="2200" b="1" kern="100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SNA-SPARSH - </a:t>
            </a:r>
            <a:r>
              <a:rPr lang="en-IN" altLang="en-US" sz="2200" kern="100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alternative fund flow mechanism for CSS funds through an integrated framework of PFMS, State IFMIS and e-</a:t>
            </a:r>
            <a:r>
              <a:rPr lang="en-IN" altLang="en-US" sz="2200" kern="100" dirty="0" err="1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kuber</a:t>
            </a:r>
            <a:r>
              <a:rPr lang="en-IN" altLang="en-US" sz="2200" kern="100" dirty="0">
                <a:highlight>
                  <a:srgbClr val="FFFF00"/>
                </a:highligh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platform of RBI.</a:t>
            </a:r>
          </a:p>
          <a:p>
            <a:pPr marL="457200" indent="-457200">
              <a:buFont typeface="+mj-lt"/>
              <a:buAutoNum type="arabicPeriod"/>
            </a:pPr>
            <a:endParaRPr lang="en-IN" altLang="en-US" sz="2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No ‘float’ of funds in the </a:t>
            </a:r>
            <a:r>
              <a:rPr lang="en-IN" alt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banking system</a:t>
            </a:r>
          </a:p>
          <a:p>
            <a:pPr marL="457200" indent="-457200">
              <a:buFont typeface="+mj-lt"/>
              <a:buAutoNum type="arabicPeriod"/>
            </a:pPr>
            <a:endParaRPr lang="en-US" altLang="en-US" sz="2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+mn-ea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alt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Streamlined </a:t>
            </a:r>
            <a:r>
              <a:rPr lang="en-US" sz="2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+mn-ea"/>
              </a:rPr>
              <a:t>Fund disbursement process</a:t>
            </a:r>
            <a:endParaRPr lang="en-US" sz="2200" b="1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45990" y="1149178"/>
            <a:ext cx="11429999" cy="4979773"/>
          </a:xfrm>
        </p:spPr>
        <p:txBody>
          <a:bodyPr anchor="ctr">
            <a:normAutofit/>
          </a:bodyPr>
          <a:lstStyle/>
          <a:p>
            <a:pPr marL="914400" lvl="1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 GoI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O.M. No. l(27)/PFMS/2020 dated 13</a:t>
            </a:r>
            <a:r>
              <a:rPr lang="en-IN" sz="2200" baseline="300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th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  <a:hlinkClick r:id="rId3" action="ppaction://hlinkfile"/>
              </a:rPr>
              <a:t> July,202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 –SNA SPARSH notified by GoI.</a:t>
            </a:r>
          </a:p>
          <a:p>
            <a:pPr marL="914400" lvl="1" indent="-457200" algn="l">
              <a:lnSpc>
                <a:spcPct val="100000"/>
              </a:lnSpc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63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Centrally Sponsored Schemes (CSS)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notified under SNA SPARSH for Manipur</a:t>
            </a:r>
          </a:p>
          <a:p>
            <a:pPr marL="914400" lvl="1" indent="-457200" algn="l">
              <a:lnSpc>
                <a:spcPct val="100000"/>
              </a:lnSpc>
              <a:buFont typeface="+mj-lt"/>
              <a:buAutoNum type="arabicPeriod"/>
            </a:pPr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 FD’s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O.M. No.FR-8/25/2024-e-FD dated 5</a:t>
            </a:r>
            <a:r>
              <a:rPr lang="en-IN" sz="2200" b="1" baseline="30000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th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 action="ppaction://hlinkfile"/>
              </a:rPr>
              <a:t> May,2025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FD notified the mechanism for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utilisation”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 SPARSH in Manipur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914400" lvl="1" indent="-457200" algn="l">
              <a:lnSpc>
                <a:spcPct val="100000"/>
              </a:lnSpc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138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 Linked Schemes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been created till date</a:t>
            </a:r>
          </a:p>
          <a:p>
            <a:pPr marL="914400" lvl="1" indent="-457200" algn="l">
              <a:lnSpc>
                <a:spcPct val="100000"/>
              </a:lnSpc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Finance Department facilitated opening of 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IN" sz="22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138</a:t>
            </a: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Drawing Accounts”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RBI, Guwahati till date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/>
              <a:t>Finance Department, Government of Manipur</a:t>
            </a:r>
            <a:endParaRPr lang="en-IN" sz="1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02043" y="501650"/>
            <a:ext cx="10565027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 SPARSH STATUS IN MANIPUR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1667" y="466717"/>
            <a:ext cx="11068665" cy="5521128"/>
          </a:xfrm>
        </p:spPr>
        <p:txBody>
          <a:bodyPr>
            <a:normAutofit lnSpcReduction="10000"/>
          </a:bodyPr>
          <a:lstStyle/>
          <a:p>
            <a:pPr lvl="1">
              <a:lnSpc>
                <a:spcPct val="100000"/>
              </a:lnSpc>
            </a:pPr>
            <a:r>
              <a:rPr lang="en-US" sz="24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PRIOR TO ISSUE OF MOTHER SANCTION BY GOI</a:t>
            </a:r>
          </a:p>
          <a:p>
            <a:pPr lvl="1">
              <a:lnSpc>
                <a:spcPct val="10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666750" lvl="1" indent="-5289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 of State Linked Scheme</a:t>
            </a:r>
          </a:p>
          <a:p>
            <a:pPr marL="666750" lvl="1" indent="-528955" algn="l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289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Mapping of GoI HoA with corresponding State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HoA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28955" algn="l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289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Opening of Drawing Account of the Scheme in RBI, Guwahati (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Drawing Account for each State Linked Scheme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66750" lvl="1" indent="-528955" algn="l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289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of RBI Drawing Account in PFMS for approval by GoI (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respective Ministries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66750" lvl="1" indent="-528955" algn="l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289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 declares SNA SPARSH DDO for the Scheme based on AD’s proposal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 algn="l"/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20409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b="1" smtClean="0"/>
              <a:t>4</a:t>
            </a:fld>
            <a:endParaRPr lang="en-IN" sz="140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0605" y="412956"/>
            <a:ext cx="11090787" cy="5973096"/>
          </a:xfrm>
        </p:spPr>
        <p:txBody>
          <a:bodyPr>
            <a:normAutofit fontScale="92500" lnSpcReduction="10000"/>
          </a:bodyPr>
          <a:lstStyle/>
          <a:p>
            <a:pPr lvl="1">
              <a:lnSpc>
                <a:spcPct val="100000"/>
              </a:lnSpc>
            </a:pPr>
            <a:r>
              <a:rPr lang="en-US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 AFTER ISSUE OF MOTHER SANCTION BY GOI</a:t>
            </a:r>
          </a:p>
          <a:p>
            <a:pPr lvl="1">
              <a:lnSpc>
                <a:spcPct val="10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to move for 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Concurrence Order (GCO) 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Finance Department (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previously FD processes on its own upon receipt of Mother Sanction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 processes and concurs to the GCO (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 Share + State Share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to issue Sanction Order (</a:t>
            </a:r>
            <a:r>
              <a:rPr lang="en-IN" sz="2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full amount or part as per requirement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to submit their claims in Bill Portal and submit to Treasury.</a:t>
            </a: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Treasury will submit claims to GoI via PFMS</a:t>
            </a: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GoI releases the claims to the Drawing Accounts of the Schemes in RBI </a:t>
            </a: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55650" lvl="1" indent="-484505" algn="l">
              <a:lnSpc>
                <a:spcPct val="100000"/>
              </a:lnSpc>
              <a:buFont typeface="+mj-lt"/>
              <a:buAutoNum type="arabicPeriod"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Drawing accounts of schemes in RBI - funds transferred directly to beneficiaries/vendors/contractors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599" y="6296800"/>
            <a:ext cx="4114800" cy="365125"/>
          </a:xfrm>
        </p:spPr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88477" y="6273296"/>
            <a:ext cx="2743200" cy="365125"/>
          </a:xfrm>
        </p:spPr>
        <p:txBody>
          <a:bodyPr/>
          <a:lstStyle/>
          <a:p>
            <a:fld id="{C2D34698-7838-4524-BFCD-61DCACDD7BD9}" type="slidenum">
              <a:rPr lang="en-IN" sz="1400" b="1" smtClean="0"/>
              <a:t>5</a:t>
            </a:fld>
            <a:endParaRPr lang="en-IN" sz="1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5038272" y="635517"/>
            <a:ext cx="2369751" cy="483504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GCO by FD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946904" y="1422666"/>
            <a:ext cx="2461119" cy="844612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accords sanction &amp; prepare bill in Bill Portal as per requirement</a:t>
            </a:r>
          </a:p>
        </p:txBody>
      </p:sp>
      <p:sp>
        <p:nvSpPr>
          <p:cNvPr id="28" name="Arrow: Down 27"/>
          <p:cNvSpPr/>
          <p:nvPr/>
        </p:nvSpPr>
        <p:spPr>
          <a:xfrm>
            <a:off x="5955394" y="1108913"/>
            <a:ext cx="219264" cy="30392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4946904" y="2636131"/>
            <a:ext cx="2520987" cy="581782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DDO-SPARSH submit bill to Treasury 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16926" y="5847654"/>
            <a:ext cx="1899558" cy="85250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Beneficiary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787560" y="3903406"/>
            <a:ext cx="1763486" cy="75821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disbursed to Drawing Account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11557" y="5398709"/>
            <a:ext cx="1763486" cy="656629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NPCI</a:t>
            </a:r>
          </a:p>
        </p:txBody>
      </p:sp>
      <p:sp>
        <p:nvSpPr>
          <p:cNvPr id="34" name="Arrow: Down 33"/>
          <p:cNvSpPr/>
          <p:nvPr/>
        </p:nvSpPr>
        <p:spPr>
          <a:xfrm>
            <a:off x="5955394" y="2286764"/>
            <a:ext cx="219264" cy="3493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Arrow: Down 34"/>
          <p:cNvSpPr/>
          <p:nvPr/>
        </p:nvSpPr>
        <p:spPr>
          <a:xfrm>
            <a:off x="5826096" y="3232573"/>
            <a:ext cx="269903" cy="50594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Box 35"/>
          <p:cNvSpPr txBox="1"/>
          <p:nvPr/>
        </p:nvSpPr>
        <p:spPr>
          <a:xfrm>
            <a:off x="3577402" y="4090909"/>
            <a:ext cx="114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Non-DBT</a:t>
            </a:r>
          </a:p>
        </p:txBody>
      </p:sp>
      <p:sp>
        <p:nvSpPr>
          <p:cNvPr id="37" name="Arrow: Right 36"/>
          <p:cNvSpPr/>
          <p:nvPr/>
        </p:nvSpPr>
        <p:spPr>
          <a:xfrm>
            <a:off x="7165606" y="4410711"/>
            <a:ext cx="1590803" cy="25875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" name="TextBox 37"/>
          <p:cNvSpPr txBox="1"/>
          <p:nvPr/>
        </p:nvSpPr>
        <p:spPr>
          <a:xfrm>
            <a:off x="7148181" y="3849815"/>
            <a:ext cx="1508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Aadhaar based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</a:p>
        </p:txBody>
      </p:sp>
      <p:sp>
        <p:nvSpPr>
          <p:cNvPr id="39" name="Arrow: Left 38"/>
          <p:cNvSpPr/>
          <p:nvPr/>
        </p:nvSpPr>
        <p:spPr>
          <a:xfrm>
            <a:off x="3182825" y="4355424"/>
            <a:ext cx="1625461" cy="26446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Diamond 39"/>
          <p:cNvSpPr/>
          <p:nvPr/>
        </p:nvSpPr>
        <p:spPr>
          <a:xfrm>
            <a:off x="4831936" y="3753178"/>
            <a:ext cx="2302519" cy="1559210"/>
          </a:xfrm>
          <a:prstGeom prst="diamond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PFMS</a:t>
            </a:r>
          </a:p>
          <a:p>
            <a:pPr algn="ctr"/>
            <a:r>
              <a:rPr lang="en-I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Programme Division (PD) of </a:t>
            </a:r>
            <a:r>
              <a:rPr lang="en-IN" sz="160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GoI</a:t>
            </a:r>
            <a:endParaRPr lang="en-I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6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rrow: Down 40"/>
          <p:cNvSpPr/>
          <p:nvPr/>
        </p:nvSpPr>
        <p:spPr>
          <a:xfrm>
            <a:off x="9669303" y="4688999"/>
            <a:ext cx="254000" cy="762791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2" name="Arrow: Bent 41"/>
          <p:cNvSpPr/>
          <p:nvPr/>
        </p:nvSpPr>
        <p:spPr>
          <a:xfrm flipH="1" flipV="1">
            <a:off x="6814454" y="6055338"/>
            <a:ext cx="3180443" cy="449848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536113" y="613721"/>
            <a:ext cx="2070896" cy="647152"/>
          </a:xfrm>
          <a:prstGeom prst="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Mother Sanction</a:t>
            </a:r>
          </a:p>
        </p:txBody>
      </p:sp>
      <p:sp>
        <p:nvSpPr>
          <p:cNvPr id="44" name="Arrow: Right 43"/>
          <p:cNvSpPr/>
          <p:nvPr/>
        </p:nvSpPr>
        <p:spPr>
          <a:xfrm>
            <a:off x="3618190" y="795938"/>
            <a:ext cx="1408901" cy="2644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5" name="Arrow: Left 44"/>
          <p:cNvSpPr/>
          <p:nvPr/>
        </p:nvSpPr>
        <p:spPr>
          <a:xfrm rot="16200000">
            <a:off x="1329104" y="5432130"/>
            <a:ext cx="1698752" cy="254002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6" name="Arrow: Left 45"/>
          <p:cNvSpPr/>
          <p:nvPr/>
        </p:nvSpPr>
        <p:spPr>
          <a:xfrm rot="10800000">
            <a:off x="2080975" y="6115808"/>
            <a:ext cx="2663724" cy="38937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7" name="Star: 10 Points 46"/>
          <p:cNvSpPr/>
          <p:nvPr/>
        </p:nvSpPr>
        <p:spPr>
          <a:xfrm>
            <a:off x="9869279" y="352814"/>
            <a:ext cx="2070896" cy="1563807"/>
          </a:xfrm>
          <a:prstGeom prst="star10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Non-External System Flow</a:t>
            </a:r>
          </a:p>
        </p:txBody>
      </p:sp>
      <p:sp>
        <p:nvSpPr>
          <p:cNvPr id="2" name="Rectangle 1"/>
          <p:cNvSpPr/>
          <p:nvPr/>
        </p:nvSpPr>
        <p:spPr>
          <a:xfrm>
            <a:off x="1384665" y="3976315"/>
            <a:ext cx="1763486" cy="758218"/>
          </a:xfrm>
          <a:prstGeom prst="rect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disbursed to Drawing Account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64690" y="74189"/>
            <a:ext cx="7201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FLOW UNDER SNA SPARSH ( Without External System)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val 2"/>
          <p:cNvSpPr/>
          <p:nvPr/>
        </p:nvSpPr>
        <p:spPr>
          <a:xfrm>
            <a:off x="8278284" y="1412833"/>
            <a:ext cx="1645019" cy="102462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IFMIS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539496" y="5029200"/>
            <a:ext cx="1364811" cy="934901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RBI’s e-Kuber</a:t>
            </a:r>
            <a:endParaRPr lang="en-IN" sz="1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555361" y="6319684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97167" y="2447754"/>
            <a:ext cx="385963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IFMIS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Integrated Financial Management Information System</a:t>
            </a:r>
          </a:p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BEAMS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(Budget Estimation, Allocation &amp; Monitoring System)</a:t>
            </a:r>
            <a:r>
              <a:rPr lang="en-IN" alt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Bill Portal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TreasuryNet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251" y="5239115"/>
            <a:ext cx="26933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NPCI -</a:t>
            </a:r>
          </a:p>
          <a:p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Payments Corporation of India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166412" y="463664"/>
            <a:ext cx="2512142" cy="462117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GCO By Finance Dept</a:t>
            </a:r>
          </a:p>
        </p:txBody>
      </p:sp>
      <p:sp>
        <p:nvSpPr>
          <p:cNvPr id="5" name="Rectangle 4"/>
          <p:cNvSpPr/>
          <p:nvPr/>
        </p:nvSpPr>
        <p:spPr>
          <a:xfrm>
            <a:off x="4011557" y="1249774"/>
            <a:ext cx="3001594" cy="47329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Implementing Agency generates FTO in External System 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616973" y="472574"/>
            <a:ext cx="1912375" cy="462117"/>
          </a:xfrm>
          <a:prstGeom prst="roundRect">
            <a:avLst/>
          </a:prstGeo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Mother Sanction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923062" y="1992106"/>
            <a:ext cx="3181825" cy="725479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FTO uploaded in Bill Portal &amp; consolidation by concerned SPARSH DDO</a:t>
            </a:r>
          </a:p>
        </p:txBody>
      </p:sp>
      <p:sp>
        <p:nvSpPr>
          <p:cNvPr id="8" name="Rectangle 7"/>
          <p:cNvSpPr/>
          <p:nvPr/>
        </p:nvSpPr>
        <p:spPr>
          <a:xfrm>
            <a:off x="4075660" y="3015497"/>
            <a:ext cx="2753033" cy="29435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to Treasury</a:t>
            </a:r>
          </a:p>
        </p:txBody>
      </p:sp>
      <p:sp>
        <p:nvSpPr>
          <p:cNvPr id="9" name="Flowchart: Decision 8"/>
          <p:cNvSpPr/>
          <p:nvPr/>
        </p:nvSpPr>
        <p:spPr>
          <a:xfrm>
            <a:off x="4666871" y="4838509"/>
            <a:ext cx="1582993" cy="796103"/>
          </a:xfrm>
          <a:prstGeom prst="flowChartDecision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PFMS</a:t>
            </a:r>
          </a:p>
        </p:txBody>
      </p:sp>
      <p:sp>
        <p:nvSpPr>
          <p:cNvPr id="10" name="Flowchart: Process 9"/>
          <p:cNvSpPr/>
          <p:nvPr/>
        </p:nvSpPr>
        <p:spPr>
          <a:xfrm>
            <a:off x="4028862" y="3748181"/>
            <a:ext cx="2753033" cy="442451"/>
          </a:xfrm>
          <a:prstGeom prst="flowChartProcess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PD For Fund Disbursal</a:t>
            </a:r>
          </a:p>
        </p:txBody>
      </p:sp>
      <p:sp>
        <p:nvSpPr>
          <p:cNvPr id="11" name="Flowchart: Process 10"/>
          <p:cNvSpPr/>
          <p:nvPr/>
        </p:nvSpPr>
        <p:spPr>
          <a:xfrm>
            <a:off x="414703" y="4663885"/>
            <a:ext cx="1494503" cy="899924"/>
          </a:xfrm>
          <a:prstGeom prst="flowChartProcess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disbursed to Drawing Account</a:t>
            </a:r>
          </a:p>
        </p:txBody>
      </p:sp>
      <p:sp>
        <p:nvSpPr>
          <p:cNvPr id="12" name="Flowchart: Process 11"/>
          <p:cNvSpPr/>
          <p:nvPr/>
        </p:nvSpPr>
        <p:spPr>
          <a:xfrm>
            <a:off x="9546957" y="4663885"/>
            <a:ext cx="1671483" cy="796102"/>
          </a:xfrm>
          <a:prstGeom prst="flowChartProcess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disbursed to Drawing Account</a:t>
            </a:r>
          </a:p>
        </p:txBody>
      </p:sp>
      <p:sp>
        <p:nvSpPr>
          <p:cNvPr id="13" name="Rectangle: Rounded Corners 12"/>
          <p:cNvSpPr/>
          <p:nvPr/>
        </p:nvSpPr>
        <p:spPr>
          <a:xfrm>
            <a:off x="4403742" y="5898296"/>
            <a:ext cx="2131138" cy="648929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Beneficiary</a:t>
            </a:r>
          </a:p>
        </p:txBody>
      </p:sp>
      <p:sp>
        <p:nvSpPr>
          <p:cNvPr id="14" name="Flowchart: Process 13"/>
          <p:cNvSpPr/>
          <p:nvPr/>
        </p:nvSpPr>
        <p:spPr>
          <a:xfrm>
            <a:off x="9750897" y="5925175"/>
            <a:ext cx="1671483" cy="521110"/>
          </a:xfrm>
          <a:prstGeom prst="flowChartProcess">
            <a:avLst/>
          </a:prstGeom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6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NPCI</a:t>
            </a:r>
          </a:p>
        </p:txBody>
      </p:sp>
      <p:sp>
        <p:nvSpPr>
          <p:cNvPr id="15" name="Arrow: Right 14"/>
          <p:cNvSpPr/>
          <p:nvPr/>
        </p:nvSpPr>
        <p:spPr>
          <a:xfrm>
            <a:off x="2529348" y="559197"/>
            <a:ext cx="1602655" cy="27101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Arrow: Left 15"/>
          <p:cNvSpPr/>
          <p:nvPr/>
        </p:nvSpPr>
        <p:spPr>
          <a:xfrm>
            <a:off x="1964365" y="5119194"/>
            <a:ext cx="2647347" cy="23473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379406" y="4461066"/>
            <a:ext cx="10374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Non-DBT</a:t>
            </a:r>
          </a:p>
        </p:txBody>
      </p:sp>
      <p:sp>
        <p:nvSpPr>
          <p:cNvPr id="18" name="Arrow: Right 17"/>
          <p:cNvSpPr/>
          <p:nvPr/>
        </p:nvSpPr>
        <p:spPr>
          <a:xfrm>
            <a:off x="6345641" y="5071121"/>
            <a:ext cx="3106994" cy="2234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Bent-Up 19"/>
          <p:cNvSpPr/>
          <p:nvPr/>
        </p:nvSpPr>
        <p:spPr>
          <a:xfrm rot="5400000">
            <a:off x="2136476" y="4579415"/>
            <a:ext cx="816078" cy="3058904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Down 20"/>
          <p:cNvSpPr/>
          <p:nvPr/>
        </p:nvSpPr>
        <p:spPr>
          <a:xfrm>
            <a:off x="10310596" y="5468112"/>
            <a:ext cx="265471" cy="41842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Left 21"/>
          <p:cNvSpPr/>
          <p:nvPr/>
        </p:nvSpPr>
        <p:spPr>
          <a:xfrm>
            <a:off x="6579002" y="6060644"/>
            <a:ext cx="3083650" cy="22342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/>
          <p:cNvSpPr/>
          <p:nvPr/>
        </p:nvSpPr>
        <p:spPr>
          <a:xfrm>
            <a:off x="5211097" y="968921"/>
            <a:ext cx="285135" cy="25951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Down 23"/>
          <p:cNvSpPr/>
          <p:nvPr/>
        </p:nvSpPr>
        <p:spPr>
          <a:xfrm>
            <a:off x="5245504" y="1752540"/>
            <a:ext cx="285135" cy="1989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/>
          <p:cNvSpPr/>
          <p:nvPr/>
        </p:nvSpPr>
        <p:spPr>
          <a:xfrm>
            <a:off x="5279916" y="2695094"/>
            <a:ext cx="285135" cy="25777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Arrow: Down 25"/>
          <p:cNvSpPr/>
          <p:nvPr/>
        </p:nvSpPr>
        <p:spPr>
          <a:xfrm>
            <a:off x="5309607" y="3381839"/>
            <a:ext cx="285135" cy="29435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Arrow: Down 26"/>
          <p:cNvSpPr/>
          <p:nvPr/>
        </p:nvSpPr>
        <p:spPr>
          <a:xfrm>
            <a:off x="5344021" y="4301083"/>
            <a:ext cx="216309" cy="47110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8" name="Star: 10 Points 27"/>
          <p:cNvSpPr/>
          <p:nvPr/>
        </p:nvSpPr>
        <p:spPr>
          <a:xfrm>
            <a:off x="9662652" y="94250"/>
            <a:ext cx="2261419" cy="1404326"/>
          </a:xfrm>
          <a:prstGeom prst="star10">
            <a:avLst/>
          </a:prstGeom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rPr>
              <a:t>EXTERNAL SYSTEM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53227" y="79414"/>
            <a:ext cx="76901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FLOW UNDER SNA SPARSH ( External System)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val 1"/>
          <p:cNvSpPr/>
          <p:nvPr/>
        </p:nvSpPr>
        <p:spPr>
          <a:xfrm>
            <a:off x="7523603" y="2441621"/>
            <a:ext cx="1194447" cy="940218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IFMIS</a:t>
            </a:r>
            <a:endParaRPr lang="en-IN" sz="1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1903644" y="5375321"/>
            <a:ext cx="1316775" cy="796103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RBI’s e-Kuber</a:t>
            </a:r>
            <a:endParaRPr lang="en-IN" sz="1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404597" y="934691"/>
            <a:ext cx="1320800" cy="962859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External Portal</a:t>
            </a:r>
            <a:endParaRPr lang="en-IN" sz="1400" b="1" dirty="0">
              <a:highlight>
                <a:srgbClr val="FFFF00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747090" y="6282813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17164" y="4507232"/>
            <a:ext cx="15082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Aadhaar based</a:t>
            </a:r>
          </a:p>
          <a:p>
            <a:pPr algn="ctr"/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1396" y="1523890"/>
            <a:ext cx="270387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NREGASoft</a:t>
            </a:r>
          </a:p>
          <a:p>
            <a:pPr marL="342900" indent="-342900">
              <a:buAutoNum type="arabicPeriod"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AwaasSoft</a:t>
            </a:r>
          </a:p>
          <a:p>
            <a:pPr marL="342900" indent="-342900">
              <a:buAutoNum type="arabicPeriod"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OMMAS (Online Management Monitoring &amp; Accounting System</a:t>
            </a:r>
          </a:p>
          <a:p>
            <a:pPr marL="342900" indent="-342900">
              <a:buAutoNum type="arabicPeriod"/>
            </a:pP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PMMVY (Pradhan Mantri Matru Vandana Yojana)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667426" y="807998"/>
            <a:ext cx="2512142" cy="462117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Fund Credited to RBI State Account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669727" y="711271"/>
            <a:ext cx="2753033" cy="583750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 authorised and concurs</a:t>
            </a:r>
          </a:p>
        </p:txBody>
      </p:sp>
      <p:sp>
        <p:nvSpPr>
          <p:cNvPr id="6" name="Rectangle: Rounded Corners 5"/>
          <p:cNvSpPr/>
          <p:nvPr/>
        </p:nvSpPr>
        <p:spPr>
          <a:xfrm>
            <a:off x="632002" y="805827"/>
            <a:ext cx="1912375" cy="462117"/>
          </a:xfrm>
          <a:prstGeom prst="roundRect">
            <a:avLst/>
          </a:prstGeo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GoI Sanction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9515013" y="1668971"/>
            <a:ext cx="2470601" cy="599067"/>
          </a:xfrm>
          <a:prstGeom prst="rect">
            <a:avLst/>
          </a:prstGeom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submits bill  to Treasury</a:t>
            </a:r>
          </a:p>
        </p:txBody>
      </p:sp>
      <p:sp>
        <p:nvSpPr>
          <p:cNvPr id="15" name="Arrow: Right 14"/>
          <p:cNvSpPr/>
          <p:nvPr/>
        </p:nvSpPr>
        <p:spPr>
          <a:xfrm>
            <a:off x="2614003" y="891123"/>
            <a:ext cx="1037463" cy="2347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2" name="Arrow: Right 1"/>
          <p:cNvSpPr/>
          <p:nvPr/>
        </p:nvSpPr>
        <p:spPr>
          <a:xfrm>
            <a:off x="6189189" y="887616"/>
            <a:ext cx="464578" cy="23105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" name="Arrow: Bent 2"/>
          <p:cNvSpPr/>
          <p:nvPr/>
        </p:nvSpPr>
        <p:spPr>
          <a:xfrm rot="5400000">
            <a:off x="9908371" y="529111"/>
            <a:ext cx="599065" cy="1443100"/>
          </a:xfrm>
          <a:prstGeom prst="bentArrow">
            <a:avLst>
              <a:gd name="adj1" fmla="val 25000"/>
              <a:gd name="adj2" fmla="val 23615"/>
              <a:gd name="adj3" fmla="val 25000"/>
              <a:gd name="adj4" fmla="val 4375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33" name="Arrow: Left 32"/>
          <p:cNvSpPr/>
          <p:nvPr/>
        </p:nvSpPr>
        <p:spPr>
          <a:xfrm>
            <a:off x="8502069" y="1819082"/>
            <a:ext cx="834700" cy="19172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34" name="Hexagon 33"/>
          <p:cNvSpPr/>
          <p:nvPr/>
        </p:nvSpPr>
        <p:spPr>
          <a:xfrm>
            <a:off x="960749" y="1687086"/>
            <a:ext cx="2466675" cy="816078"/>
          </a:xfrm>
          <a:prstGeom prst="hexagon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FTO Generated from External Portal(e.g. Awaas soft)/ PFMS</a:t>
            </a:r>
          </a:p>
        </p:txBody>
      </p:sp>
      <p:pic>
        <p:nvPicPr>
          <p:cNvPr id="38" name="Picture 3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895" y="1396502"/>
            <a:ext cx="1266441" cy="1032273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83872" y="2407413"/>
            <a:ext cx="13988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 Bank Account</a:t>
            </a:r>
          </a:p>
        </p:txBody>
      </p:sp>
      <p:sp>
        <p:nvSpPr>
          <p:cNvPr id="42" name="Rectangle: Rounded Corners 41"/>
          <p:cNvSpPr/>
          <p:nvPr/>
        </p:nvSpPr>
        <p:spPr>
          <a:xfrm>
            <a:off x="9913869" y="2750885"/>
            <a:ext cx="2131138" cy="648929"/>
          </a:xfrm>
          <a:prstGeom prst="roundRect">
            <a:avLst/>
          </a:prstGeom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Beneficiary/ Vendor/ Contractor</a:t>
            </a:r>
          </a:p>
        </p:txBody>
      </p:sp>
      <p:graphicFrame>
        <p:nvGraphicFramePr>
          <p:cNvPr id="46" name="Diagram 45"/>
          <p:cNvGraphicFramePr/>
          <p:nvPr/>
        </p:nvGraphicFramePr>
        <p:xfrm>
          <a:off x="3524084" y="1954246"/>
          <a:ext cx="3549446" cy="2875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6" name="Rectangle: Rounded Corners 55"/>
          <p:cNvSpPr/>
          <p:nvPr/>
        </p:nvSpPr>
        <p:spPr>
          <a:xfrm>
            <a:off x="616973" y="3945544"/>
            <a:ext cx="1912375" cy="462117"/>
          </a:xfrm>
          <a:prstGeom prst="roundRect">
            <a:avLst/>
          </a:prstGeo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Mother  Sanction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181960" y="3945542"/>
            <a:ext cx="1460098" cy="462117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GCO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294671" y="3955374"/>
            <a:ext cx="1283484" cy="442452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FTO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268119" y="3945542"/>
            <a:ext cx="1528924" cy="462117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Bill Portal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73988" y="5598521"/>
            <a:ext cx="2398344" cy="462117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DDO SNA-SPARSH Consolidation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63399" y="5598521"/>
            <a:ext cx="1460098" cy="462117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Submit To Treasury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848106" y="5598521"/>
            <a:ext cx="1460098" cy="462117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PD </a:t>
            </a:r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(GoI) </a:t>
            </a:r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for Fund Disbursal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949000" y="5598521"/>
            <a:ext cx="1460098" cy="462117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Drawing Account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249389" y="5560452"/>
            <a:ext cx="1460098" cy="462117"/>
          </a:xfrm>
          <a:prstGeom prst="rect">
            <a:avLst/>
          </a:prstGeom>
          <a:ln>
            <a:solidFill>
              <a:schemeClr val="accent6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NPCI</a:t>
            </a:r>
          </a:p>
        </p:txBody>
      </p:sp>
      <p:sp>
        <p:nvSpPr>
          <p:cNvPr id="76" name="Arrow: Bent-Up 75"/>
          <p:cNvSpPr/>
          <p:nvPr/>
        </p:nvSpPr>
        <p:spPr>
          <a:xfrm rot="10800000">
            <a:off x="1101211" y="4799619"/>
            <a:ext cx="5968181" cy="746866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7" name="Arrow: Bent 76"/>
          <p:cNvSpPr/>
          <p:nvPr/>
        </p:nvSpPr>
        <p:spPr>
          <a:xfrm rot="10800000">
            <a:off x="7069391" y="4431045"/>
            <a:ext cx="1168549" cy="583405"/>
          </a:xfrm>
          <a:prstGeom prst="ben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>
              <a:solidFill>
                <a:schemeClr val="tx1"/>
              </a:solidFill>
            </a:endParaRPr>
          </a:p>
        </p:txBody>
      </p:sp>
      <p:sp>
        <p:nvSpPr>
          <p:cNvPr id="78" name="Arrow: Right 77"/>
          <p:cNvSpPr/>
          <p:nvPr/>
        </p:nvSpPr>
        <p:spPr>
          <a:xfrm>
            <a:off x="2613114" y="4011512"/>
            <a:ext cx="568846" cy="285185"/>
          </a:xfrm>
          <a:prstGeom prst="rightArrow">
            <a:avLst>
              <a:gd name="adj1" fmla="val 50000"/>
              <a:gd name="adj2" fmla="val 484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79" name="Arrow: Right 78"/>
          <p:cNvSpPr/>
          <p:nvPr/>
        </p:nvSpPr>
        <p:spPr>
          <a:xfrm>
            <a:off x="4683941" y="4011512"/>
            <a:ext cx="568846" cy="285185"/>
          </a:xfrm>
          <a:prstGeom prst="rightArrow">
            <a:avLst>
              <a:gd name="adj1" fmla="val 50000"/>
              <a:gd name="adj2" fmla="val 484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80" name="Arrow: Right 79"/>
          <p:cNvSpPr/>
          <p:nvPr/>
        </p:nvSpPr>
        <p:spPr>
          <a:xfrm>
            <a:off x="6634036" y="4058059"/>
            <a:ext cx="568846" cy="285185"/>
          </a:xfrm>
          <a:prstGeom prst="rightArrow">
            <a:avLst>
              <a:gd name="adj1" fmla="val 50000"/>
              <a:gd name="adj2" fmla="val 484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81" name="Arrow: Right 80"/>
          <p:cNvSpPr/>
          <p:nvPr/>
        </p:nvSpPr>
        <p:spPr>
          <a:xfrm>
            <a:off x="2858578" y="5640813"/>
            <a:ext cx="568846" cy="285185"/>
          </a:xfrm>
          <a:prstGeom prst="rightArrow">
            <a:avLst>
              <a:gd name="adj1" fmla="val 50000"/>
              <a:gd name="adj2" fmla="val 484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82" name="Arrow: Right 81"/>
          <p:cNvSpPr/>
          <p:nvPr/>
        </p:nvSpPr>
        <p:spPr>
          <a:xfrm>
            <a:off x="4959472" y="5667456"/>
            <a:ext cx="862161" cy="280823"/>
          </a:xfrm>
          <a:prstGeom prst="rightArrow">
            <a:avLst>
              <a:gd name="adj1" fmla="val 50000"/>
              <a:gd name="adj2" fmla="val 484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83" name="Arrow: Right 82"/>
          <p:cNvSpPr/>
          <p:nvPr/>
        </p:nvSpPr>
        <p:spPr>
          <a:xfrm>
            <a:off x="7380154" y="5686986"/>
            <a:ext cx="568846" cy="285185"/>
          </a:xfrm>
          <a:prstGeom prst="rightArrow">
            <a:avLst>
              <a:gd name="adj1" fmla="val 50000"/>
              <a:gd name="adj2" fmla="val 484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84" name="Arrow: Right 83"/>
          <p:cNvSpPr/>
          <p:nvPr/>
        </p:nvSpPr>
        <p:spPr>
          <a:xfrm>
            <a:off x="9409098" y="5686986"/>
            <a:ext cx="840291" cy="261294"/>
          </a:xfrm>
          <a:prstGeom prst="rightArrow">
            <a:avLst>
              <a:gd name="adj1" fmla="val 50000"/>
              <a:gd name="adj2" fmla="val 4843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88" name="TextBox 87"/>
          <p:cNvSpPr txBox="1"/>
          <p:nvPr/>
        </p:nvSpPr>
        <p:spPr>
          <a:xfrm>
            <a:off x="3667426" y="3288790"/>
            <a:ext cx="38639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SNA Model (Old System)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2897198" y="6363841"/>
            <a:ext cx="54043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Fig: SNA-SPARSH (New System)</a:t>
            </a:r>
          </a:p>
        </p:txBody>
      </p:sp>
      <p:sp>
        <p:nvSpPr>
          <p:cNvPr id="91" name="Rectangle 90"/>
          <p:cNvSpPr/>
          <p:nvPr/>
        </p:nvSpPr>
        <p:spPr>
          <a:xfrm flipV="1">
            <a:off x="292732" y="3671164"/>
            <a:ext cx="9085006" cy="45719"/>
          </a:xfrm>
          <a:prstGeom prst="rect">
            <a:avLst/>
          </a:prstGeom>
          <a:gradFill>
            <a:gsLst>
              <a:gs pos="0">
                <a:schemeClr val="tx1"/>
              </a:gs>
              <a:gs pos="50000">
                <a:schemeClr val="accent3">
                  <a:satMod val="110000"/>
                  <a:lumMod val="100000"/>
                  <a:shade val="100000"/>
                </a:schemeClr>
              </a:gs>
              <a:gs pos="100000">
                <a:schemeClr val="accent3">
                  <a:lumMod val="99000"/>
                  <a:satMod val="120000"/>
                  <a:shade val="78000"/>
                </a:schemeClr>
              </a:gs>
            </a:gsLst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 b="1" spc="5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</a:endParaRPr>
          </a:p>
        </p:txBody>
      </p:sp>
      <p:sp>
        <p:nvSpPr>
          <p:cNvPr id="93" name="Arrow: Bent-Up 92"/>
          <p:cNvSpPr/>
          <p:nvPr/>
        </p:nvSpPr>
        <p:spPr>
          <a:xfrm rot="5400000">
            <a:off x="8519276" y="1974503"/>
            <a:ext cx="555532" cy="2131137"/>
          </a:xfrm>
          <a:prstGeom prst="bent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4" name="TextBox 93"/>
          <p:cNvSpPr txBox="1"/>
          <p:nvPr/>
        </p:nvSpPr>
        <p:spPr>
          <a:xfrm>
            <a:off x="8586683" y="2711152"/>
            <a:ext cx="6654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₹₹₹</a:t>
            </a:r>
          </a:p>
        </p:txBody>
      </p:sp>
      <p:sp>
        <p:nvSpPr>
          <p:cNvPr id="95" name="Arrow: Right 94"/>
          <p:cNvSpPr/>
          <p:nvPr/>
        </p:nvSpPr>
        <p:spPr>
          <a:xfrm rot="16200000">
            <a:off x="10090613" y="4259474"/>
            <a:ext cx="2005012" cy="402438"/>
          </a:xfrm>
          <a:prstGeom prst="rightArrow">
            <a:avLst/>
          </a:prstGeom>
        </p:spPr>
        <p:style>
          <a:lnRef idx="2">
            <a:schemeClr val="accent6"/>
          </a:lnRef>
          <a:fillRef idx="1003">
            <a:schemeClr val="lt2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96" name="TextBox 95"/>
          <p:cNvSpPr txBox="1"/>
          <p:nvPr/>
        </p:nvSpPr>
        <p:spPr>
          <a:xfrm>
            <a:off x="10166292" y="4326448"/>
            <a:ext cx="62700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₹₹₹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" y="207947"/>
            <a:ext cx="110662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 DISBURSAL SYSTEM – SNA Vs SNA SPARSH</a:t>
            </a:r>
          </a:p>
        </p:txBody>
      </p:sp>
      <p:sp>
        <p:nvSpPr>
          <p:cNvPr id="10" name="Arrow: Right 94"/>
          <p:cNvSpPr/>
          <p:nvPr/>
        </p:nvSpPr>
        <p:spPr>
          <a:xfrm rot="18147045">
            <a:off x="8530957" y="4294506"/>
            <a:ext cx="2140772" cy="402438"/>
          </a:xfrm>
          <a:prstGeom prst="rightArrow">
            <a:avLst/>
          </a:prstGeom>
        </p:spPr>
        <p:style>
          <a:lnRef idx="2">
            <a:schemeClr val="accent6"/>
          </a:lnRef>
          <a:fillRef idx="1003">
            <a:schemeClr val="lt2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12" name="TextBox 11"/>
          <p:cNvSpPr txBox="1"/>
          <p:nvPr/>
        </p:nvSpPr>
        <p:spPr>
          <a:xfrm>
            <a:off x="11378381" y="6437671"/>
            <a:ext cx="2744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5582" y="1039760"/>
            <a:ext cx="11431228" cy="5213555"/>
          </a:xfrm>
        </p:spPr>
        <p:txBody>
          <a:bodyPr anchor="ctr">
            <a:normAutofit lnSpcReduction="10000"/>
          </a:bodyPr>
          <a:lstStyle/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Actual f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disbursement is as per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parking of funds in 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accounts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Departments or State Government Account.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Funds will flow directly to payee/ vendors/ beneficiaries (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 pass-through Consolidated Fund of State – account in RBI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track and monitor expenditure through PFMS portal</a:t>
            </a:r>
          </a:p>
          <a:p>
            <a:pPr algn="l">
              <a:lnSpc>
                <a:spcPct val="120000"/>
              </a:lnSpc>
              <a:buFont typeface="+mj-lt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 algn="l">
              <a:lnSpc>
                <a:spcPct val="120000"/>
              </a:lnSpc>
              <a:buFont typeface="+mj-lt"/>
              <a:buAutoNum type="arabi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Ease of audit and accounting by AG office – proper records recorded and actual expenditure captured in system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20000"/>
              </a:lnSpc>
              <a:buFont typeface="+mj-lt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b="1" smtClean="0"/>
              <a:t>9</a:t>
            </a:fld>
            <a:endParaRPr lang="en-IN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23569" y="206477"/>
            <a:ext cx="1916430" cy="4914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2116" y="919625"/>
            <a:ext cx="11267768" cy="5264970"/>
          </a:xfrm>
        </p:spPr>
        <p:txBody>
          <a:bodyPr anchor="ctr">
            <a:normAutofit fontScale="92500" lnSpcReduction="10000"/>
          </a:bodyPr>
          <a:lstStyle/>
          <a:p>
            <a:pPr marL="666750" lvl="1" indent="-571500" algn="l">
              <a:lnSpc>
                <a:spcPct val="11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system – takes time to adjust by Departments</a:t>
            </a: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SNA Model fund are released in Advance, while in SPARSH actual release is against Bills raised in PFMS –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 utilization of funds</a:t>
            </a: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/>
            </a:pPr>
            <a:endParaRPr lang="en-IN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Issue of requirement of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number of vouchers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bills submitted (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Fully Vouched Bills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Budgeting issues – Difficult to assess requirement as GoI sanction usually does not match proposal by Departments (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Re-appropriation or advances from Contingency Fund required in many cases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Procedural compliance for drawal against GCO issued by FD – some departments have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long/ time consuming process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sanctions and bill preparation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b="1" smtClean="0"/>
              <a:t>10</a:t>
            </a:fld>
            <a:endParaRPr lang="en-IN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47370" y="255270"/>
            <a:ext cx="79178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83459" y="1091380"/>
            <a:ext cx="11267768" cy="4948084"/>
          </a:xfrm>
        </p:spPr>
        <p:txBody>
          <a:bodyPr anchor="ctr">
            <a:normAutofit lnSpcReduction="10000"/>
          </a:bodyPr>
          <a:lstStyle/>
          <a:p>
            <a:pPr marL="666750" lvl="1" indent="-571500" algn="l">
              <a:lnSpc>
                <a:spcPct val="110000"/>
              </a:lnSpc>
              <a:buFont typeface="+mj-lt"/>
              <a:buAutoNum type="arabicPeriod" startAt="6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case of payments involving external portals e.g. PMAY-G, PMMVY, NREGA, -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steps add to procedural delays</a:t>
            </a: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 startAt="6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 startAt="6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e.g. in PMAY-G - FTOs are generated by BDOs, consolidated by SNA SPARSH DDO and submitted to Treasury and then further pushed to PFMS.</a:t>
            </a: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 startAt="6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 startAt="6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Programme Division (GoI) approval for expenditure claims </a:t>
            </a: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 startAt="6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66750" lvl="1" indent="-571500" algn="l">
              <a:lnSpc>
                <a:spcPct val="110000"/>
              </a:lnSpc>
              <a:buFont typeface="+mj-lt"/>
              <a:buAutoNum type="arabicPeriod" startAt="6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administrative department increased – due to requirement of sanctions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b="1" smtClean="0"/>
              <a:t>11</a:t>
            </a:fld>
            <a:endParaRPr lang="en-IN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61971" y="429433"/>
            <a:ext cx="6767977" cy="49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(cont.)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" name="Table 50"/>
          <p:cNvGraphicFramePr>
            <a:graphicFrameLocks noGrp="1"/>
          </p:cNvGraphicFramePr>
          <p:nvPr/>
        </p:nvGraphicFramePr>
        <p:xfrm>
          <a:off x="0" y="0"/>
          <a:ext cx="12191999" cy="65667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69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0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80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9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2758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590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74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40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75071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859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963561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37419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47251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465158">
                <a:tc>
                  <a:txBody>
                    <a:bodyPr/>
                    <a:lstStyle/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PMAY-R Transactions  </a:t>
                      </a:r>
                    </a:p>
                    <a:p>
                      <a:pPr algn="ctr"/>
                      <a:r>
                        <a:rPr lang="en-IN" sz="1400" b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(as on 23 Jan, 2026)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No. of FTO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No. of Payee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Amount</a:t>
                      </a:r>
                    </a:p>
                    <a:p>
                      <a:r>
                        <a:rPr lang="en-IN" sz="1800" b="0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₹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FTO Date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Bill Portal Approval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 err="1"/>
                        <a:t>TreasuryNet</a:t>
                      </a:r>
                      <a:r>
                        <a:rPr lang="en-IN" sz="1050" b="1" dirty="0"/>
                        <a:t> Upload 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Treasury Receipt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Advice From Treasury 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PFMS Upload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Ministry Sanction date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CN date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50" b="1" dirty="0"/>
                        <a:t>Payment date</a:t>
                      </a:r>
                      <a:endParaRPr lang="en-IN"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8320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of 1st Instalment under Special Project PMAYG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Henglep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Block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4,32,000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19/11/25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19/11/25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19/11/25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19/11/25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19/11/25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19/11/25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24/11/2025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26/11/25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1/12/25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045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1st Instalment for SP Beneficiaries for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Henglep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Saikot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Singngat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Chakpikarong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Moreh Block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72,48,000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8/12/25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09/01/26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22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1st instalment for SP Moreh Block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06/01/26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09/01/26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729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to beneficiaries of Special Project under PMAY-G for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Churachandpur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Chandel,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Kangpokpi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Tengnoupal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Districts.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41,28,000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22/12/25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22/12/25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15/01/26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053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to beneficiaries of Special Project under PMAY-G for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Moirang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Imphal East District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  <a:p>
                      <a:pPr algn="ctr"/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16,32,000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22/12/25</a:t>
                      </a:r>
                    </a:p>
                    <a:p>
                      <a:endParaRPr lang="en-IN" sz="1000" dirty="0"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22/12/25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08/01/26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19/01/26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68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to beneficiaries of Special Project under PMAY-G for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Moirang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Imphal East District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1,93,44,000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23/01/26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077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of 1st Instalment to the Beneficiaries of Special Project under PMAY-G for Imphal West District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3,36,000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23/01/26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58077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of 1st Instalment to the Beneficiaries of Special Project under PMAY-G for Bishnupur District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N" sz="1100" b="0" i="0" u="none" strike="noStrike" dirty="0">
                          <a:effectLst/>
                          <a:latin typeface="Calibri" panose="020F0502020204030204" pitchFamily="34" charset="0"/>
                        </a:rPr>
                        <a:t>3,36,000</a:t>
                      </a:r>
                    </a:p>
                  </a:txBody>
                  <a:tcPr marL="7620" marR="7620" marT="7620" marB="0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12/01/26</a:t>
                      </a:r>
                    </a:p>
                    <a:p>
                      <a:endParaRPr lang="en-IN" sz="1000" dirty="0">
                        <a:highlight>
                          <a:srgbClr val="FFFF00"/>
                        </a:highlight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22/01/26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highlight>
                            <a:srgbClr val="FFFF00"/>
                          </a:highlight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23/01/26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848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of 1st Instalment to the beneficiaries of Special Project under PMAY-G for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Churachandpur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Chandel,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Kangpokpi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Tengnoupal</a:t>
                      </a:r>
                      <a:r>
                        <a:rPr lang="en-US" sz="1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Districts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80,64,000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23/01/2026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158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of 1st Instalment to the beneficiaries of Special Project under PMAY-G for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Jiribam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District.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23/01/2026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848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of 1st instalment to Special Project beneficiaries of Chandel,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Churachandpur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kangpokpi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Tengnoupal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Districts of Manipur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1,96,32,000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23/01/2026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38482">
                <a:tc>
                  <a:txBody>
                    <a:bodyPr/>
                    <a:lstStyle/>
                    <a:p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Payment of 1st Instalment to Special Project beneficiaries of Bishnupur, Imphal East and </a:t>
                      </a:r>
                      <a:r>
                        <a:rPr lang="en-US" sz="1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Jiribam</a:t>
                      </a:r>
                      <a:r>
                        <a:rPr lang="en-US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Districts</a:t>
                      </a:r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96,96,000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22/01/26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23/01/2026</a:t>
                      </a:r>
                    </a:p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52" name="Table 51"/>
          <p:cNvGraphicFramePr>
            <a:graphicFrameLocks noGrp="1"/>
          </p:cNvGraphicFramePr>
          <p:nvPr/>
        </p:nvGraphicFramePr>
        <p:xfrm>
          <a:off x="1" y="6566783"/>
          <a:ext cx="5260259" cy="2912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8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7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7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62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1217"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1428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000" dirty="0"/>
                        <a:t>7,11,36,000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7871" y="1342138"/>
            <a:ext cx="11356257" cy="4955458"/>
          </a:xfrm>
        </p:spPr>
        <p:txBody>
          <a:bodyPr anchor="ctr">
            <a:normAutofit/>
          </a:bodyPr>
          <a:lstStyle/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requirement of multiple approvals of FD – only a single GCO issuance required</a:t>
            </a:r>
          </a:p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Central &amp; State Share GCO issued – faster utilization, better accounting, single approval</a:t>
            </a:r>
          </a:p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 drawal allowed – as per rules</a:t>
            </a:r>
          </a:p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 portal introduced for submission/ consolidation of vouchers and bill details</a:t>
            </a:r>
          </a:p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IFMIS modified so that data entry can be done from field levels and consolidated at DDO SPARSH level </a:t>
            </a:r>
          </a:p>
          <a:p>
            <a:pPr marL="490855" lvl="1" indent="-440055" algn="l">
              <a:lnSpc>
                <a:spcPct val="10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b="1" smtClean="0"/>
              <a:t>13</a:t>
            </a:fld>
            <a:endParaRPr lang="en-IN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277760" y="309716"/>
            <a:ext cx="11636478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re-engineering/ system improvements introduced </a:t>
            </a:r>
          </a:p>
          <a:p>
            <a:pPr algn="ctr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Finance Department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8692" y="1050008"/>
            <a:ext cx="11214616" cy="5176480"/>
          </a:xfrm>
        </p:spPr>
        <p:txBody>
          <a:bodyPr anchor="ctr">
            <a:normAutofit fontScale="92500" lnSpcReduction="20000"/>
          </a:bodyPr>
          <a:lstStyle/>
          <a:p>
            <a:pPr marL="579755" lvl="1" indent="-441325" algn="l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Simplification of voucher submission –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 working on OM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feedback from Departments and Treasuries</a:t>
            </a:r>
          </a:p>
          <a:p>
            <a:pPr marL="579755" lvl="1" indent="-441325" algn="l">
              <a:lnSpc>
                <a:spcPct val="12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9755" lvl="1" indent="-441325" algn="l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of Bill Portal for end-to-end computerisation –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physical submission to Treasuries</a:t>
            </a:r>
          </a:p>
          <a:p>
            <a:pPr marL="579755" lvl="1" indent="-441325" algn="l">
              <a:lnSpc>
                <a:spcPct val="12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9755" lvl="1" indent="-441325" algn="l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Manipur Treasury Rules to be introduced –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draft ready </a:t>
            </a:r>
          </a:p>
          <a:p>
            <a:pPr marL="579755" lvl="1" indent="-441325" algn="l">
              <a:lnSpc>
                <a:spcPct val="12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9755" lvl="1" indent="-441325" algn="l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 to simplify their internal process for processing sanctions/ claims e.g. using e-office, setting timelines, schedules etc.</a:t>
            </a:r>
          </a:p>
          <a:p>
            <a:pPr marL="579755" lvl="1" indent="-441325" algn="l">
              <a:lnSpc>
                <a:spcPct val="120000"/>
              </a:lnSpc>
              <a:buFont typeface="+mj-lt"/>
              <a:buAutoNum type="arabicPeriod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9755" lvl="1" indent="-441325" algn="l">
              <a:lnSpc>
                <a:spcPct val="120000"/>
              </a:lnSpc>
              <a:buFont typeface="+mj-lt"/>
              <a:buAutoNum type="arabicPeriod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 to actively monitor expenditure and follow up mother sanctions, expenditure claims with Program Divisions of Ministries of GoI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b="1" smtClean="0"/>
              <a:t>14</a:t>
            </a:fld>
            <a:endParaRPr lang="en-IN" sz="1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7332" y="331839"/>
            <a:ext cx="81869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Way forward for smooth fund flow under SNA SPARSH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smtClean="0"/>
              <a:t>15</a:t>
            </a:fld>
            <a:endParaRPr lang="en-IN" sz="1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86698" y="1228365"/>
          <a:ext cx="11216148" cy="256197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632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97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3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561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3435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3944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67991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SLS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(plus state share) 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encashed 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Mother Sanction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GCO issued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205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893.49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706.58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179.15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20%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8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25%</a:t>
                      </a:r>
                      <a:endParaRPr lang="en-IN" sz="18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2035879" y="530999"/>
            <a:ext cx="84711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CONSOLIDATED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OF SNA SPARSH SCHEMES AS ON 23.01.2026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smtClean="0"/>
              <a:t>16</a:t>
            </a:fld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1226" y="317091"/>
          <a:ext cx="11720838" cy="591410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884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1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03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252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80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26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0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24971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SLS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encashed 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Rs. in crore)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Mother Sanction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GCO issued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18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Welfare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107.94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49.45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11.98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818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OBC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18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CAF &amp; PD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21.25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818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MAHUD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71.44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83.26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818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116.51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78.91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24.62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4818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Tribal Affairs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smtClean="0"/>
              <a:t>17</a:t>
            </a:fld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13852" y="265469"/>
          <a:ext cx="11728211" cy="60173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332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84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79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1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3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90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9366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4097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4984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SLS</a:t>
                      </a:r>
                      <a:endParaRPr lang="en-IN" sz="16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encashed 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Rs. in crore)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Mother Sanction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GCO issued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1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 &amp; PR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213.96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169.36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1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116.41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125.20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74.75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1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Forest &amp; Enviroment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15.29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16.93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1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Police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1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PHED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1250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Minor Irrigation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27.13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z="1400" smtClean="0"/>
              <a:t>18</a:t>
            </a:fld>
            <a:endParaRPr lang="en-IN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50723" y="243349"/>
          <a:ext cx="11691342" cy="605421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776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6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460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62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906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37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86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3644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5872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SLS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encashed 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Rs. in crore)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Mother Sanction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GCO issued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59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Veterinary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10.73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59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Horticulture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38.10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40.04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21.97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58%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59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WRD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66.10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59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Cooperation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111%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59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591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Law 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2.89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9012" y="6356350"/>
            <a:ext cx="1184787" cy="365125"/>
          </a:xfrm>
        </p:spPr>
        <p:txBody>
          <a:bodyPr/>
          <a:lstStyle/>
          <a:p>
            <a:fld id="{C2D34698-7838-4524-BFCD-61DCACDD7BD9}" type="slidenum">
              <a:rPr lang="en-IN" sz="1400" smtClean="0"/>
              <a:t>19</a:t>
            </a:fld>
            <a:endParaRPr lang="en-IN" sz="14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94968" y="252982"/>
          <a:ext cx="11592230" cy="602983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111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964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5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25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7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695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751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2427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144406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No. of SLS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Amount encashed 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 Rs. in crore)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Mother Sanction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US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 as % of GCO issued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429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Trade, Commerce &amp; Industry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4.44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429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Fisheries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5.55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429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Adult Education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 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-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429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33.11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36.79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16.94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46%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6429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Planning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12.30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13.67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11.63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95%</a:t>
                      </a:r>
                      <a:endParaRPr lang="en-IN" sz="16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85%</a:t>
                      </a:r>
                      <a:endParaRPr lang="en-IN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64294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of all Departments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893.49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706.58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179.15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20%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6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25%</a:t>
                      </a:r>
                      <a:endParaRPr lang="en-IN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38600" y="2505670"/>
            <a:ext cx="746150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1642" y="2101644"/>
            <a:ext cx="10688715" cy="1460091"/>
          </a:xfrm>
        </p:spPr>
        <p:txBody>
          <a:bodyPr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sz="6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Annexures</a:t>
            </a:r>
            <a:endParaRPr lang="en-IN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D34698-7838-4524-BFCD-61DCACDD7BD9}" type="slidenum">
              <a:rPr lang="en-IN" smtClean="0"/>
              <a:t>22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46002" y="505857"/>
          <a:ext cx="11582204" cy="621792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905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83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71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9988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6118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19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2312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73872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SLS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(Rs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3670">
                <a:tc rowSpan="8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8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Social Welfare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Samarthya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25.66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Sambal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7.16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10.27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Mission Vatsalya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20.88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Nirbhaya Fund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Atal Vayo Abhyuday Yojana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 Action Plan for Drug Demand Reduction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Saksham Angawadi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64.14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107.94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49.45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11.98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3670">
                <a:tc rowSpan="6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6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OBC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 YASASVI (Pre Matric)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 AJAY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Boys &amp; Girls Hostel OBC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 Yasasvi ( Post Matric)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PMJVK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8.63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3670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CAF &amp; PD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PDS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NFSA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15.64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20.85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16.00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21.25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3670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MAHUD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SBM (U)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PMAY (U)_ Other Items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57.10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60.60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AMRUT (LAPT)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8.30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9.16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36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71.44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83.26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2.59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313432" y="136525"/>
            <a:ext cx="82478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DETAILED STATUS OF SNA SPARSH SCHEMES AS ON 23.01.2026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30040" y="6319245"/>
            <a:ext cx="4114800" cy="442942"/>
          </a:xfrm>
        </p:spPr>
        <p:txBody>
          <a:bodyPr/>
          <a:lstStyle/>
          <a:p>
            <a:r>
              <a:rPr lang="en-US" sz="900">
                <a:latin typeface="Times New Roman" panose="02020603050405020304" pitchFamily="18" charset="0"/>
                <a:cs typeface="Times New Roman" panose="02020603050405020304" pitchFamily="18" charset="0"/>
              </a:rPr>
              <a:t>Finance Department, Government of Manipur</a:t>
            </a:r>
            <a:endParaRPr lang="en-I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02040" y="6319245"/>
            <a:ext cx="2743200" cy="442942"/>
          </a:xfrm>
        </p:spPr>
        <p:txBody>
          <a:bodyPr/>
          <a:lstStyle/>
          <a:p>
            <a:fld id="{C2D34698-7838-4524-BFCD-61DCACDD7BD9}" type="slidenum">
              <a:rPr lang="en-IN" sz="9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23</a:t>
            </a:fld>
            <a:endParaRPr lang="en-IN" sz="9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81991" y="180799"/>
          <a:ext cx="11627331" cy="658137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6397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25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8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01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52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297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21787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813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(Rs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2059">
                <a:tc rowSpan="10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 rowSpan="10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Tribal Affairs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 Matric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 Adi Adarsh Gram Yojana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to TRI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Support to TRI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Administrative Cost to States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 JANMAN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DAJGUA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 Matric Scholarship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Development of Particularly Vulnerable Tribal Group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10.10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6.43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2059">
                <a:tc rowSpan="7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anchor="ctr"/>
                </a:tc>
                <a:tc rowSpan="7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RD &amp; PR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PMGSY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53.38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PMAY Rural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23.09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25.66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NRLM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115.95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110.50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MGNREGS Admin Component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16.53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16.53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MGNREGS Manipur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RGSA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3.94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213.96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169.36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6.24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82059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Health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NHM Manipur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106.00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117.77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70.59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 Ayush Mission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 ABHIM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7.51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8205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116.41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125.20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74.75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50723" y="136525"/>
          <a:ext cx="11724967" cy="6507621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3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9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7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63473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(Rs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01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PHED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SBM Rural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Jal Jeevan Mission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6.94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7.71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93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Minor Irrigation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Irrigation Census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9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 Khet Ko Pani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26.78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29.75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701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 CADWM Scheme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27.13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30.10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944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Veterinary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Livestock Census and Integrated Sample Survey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1.76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 Livestock Mission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3.34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07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Livestock Health &amp; Disease Control Programme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4.90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5.63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3.62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9.58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10.73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6.37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4345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Horticulture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Krishnionnati Yojana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40.04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21.97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38.10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40.04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21.97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4345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WRD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FMBAP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50.00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Irrigation Census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PMKSY- AIBP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16.10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66.10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90593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Cooperation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Digilization of PACS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434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Strengthening of Cooperative through IT Interventions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1480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0.59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0.66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28601" y="206477"/>
          <a:ext cx="11688096" cy="644504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06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60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81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43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413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078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43757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(Rs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672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CADA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PMKSY- CADA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36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9.32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733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Law 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Infrastructure facilities for Judiciary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367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2.89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0.20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622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Trade, Commerce &amp; Industry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 Formalization of Micro Food Processing Enterprise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2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4.44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5916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Fisheries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Pradhan Mantri Matsya Sampada Yojana 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02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62855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Adult Education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 India Literacy Programme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14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140">
                <a:tc rowSpan="3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19</a:t>
                      </a: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Education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 SHRI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26.06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28.96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13.91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2979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PM- USHA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7.05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7.83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3.03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802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33.11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36.79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16.94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13264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Planning</a:t>
                      </a:r>
                      <a:endParaRPr lang="en-IN" sz="1200" b="1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PMKSY Watershed Development component 2.0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12.30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13.67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11.63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802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12.30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13.67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11.63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33516" y="284009"/>
          <a:ext cx="11724967" cy="6020923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2349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4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900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9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0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97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77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0077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Department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SLS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Mother Sanction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(Rs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GCO issued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(Rs. in crore)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Encashed</a:t>
                      </a:r>
                    </a:p>
                    <a:p>
                      <a:pPr algn="ctr" fontAlgn="t">
                        <a:buNone/>
                      </a:pPr>
                      <a:r>
                        <a:rPr lang="en-IN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(Rs in crore)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509">
                <a:tc rowSpan="4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</a:p>
                  </a:txBody>
                  <a:tcPr anchor="ctr"/>
                </a:tc>
                <a:tc rowSpan="4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Agriculture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RKVY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49.99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55.54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22.73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Krishionnati</a:t>
                      </a: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Yojana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63.41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23.37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1.89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 Mission on Natural Farming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116.51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78.91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24.62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2509">
                <a:tc rowSpan="9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</a:p>
                  </a:txBody>
                  <a:tcPr anchor="ctr"/>
                </a:tc>
                <a:tc rowSpan="9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Forest &amp; 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Krishionnati</a:t>
                      </a: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Yojana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2.78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RKVY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Development of Wildlife Habitat Manipur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Project Tiger and Elephant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Forest Fire Prevention and Management Scheme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0.098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 India Mission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US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Conservation of Aquatic Eco System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3.76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4.17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National River Conservation Plan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IN" sz="12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5.00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5.55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15.29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16.93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0.85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2509">
                <a:tc rowSpan="2"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Police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Modernisation of Police Force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2.17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2.42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2509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2.17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2.42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2509"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en-IN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Grand Total</a:t>
                      </a:r>
                      <a:endParaRPr lang="en-IN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138</a:t>
                      </a:r>
                      <a:endParaRPr lang="en-IN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893.49</a:t>
                      </a:r>
                      <a:endParaRPr lang="en-IN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706.58</a:t>
                      </a:r>
                      <a:endParaRPr lang="en-IN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IN" sz="1200" b="1" u="none" strike="noStrike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179.15</a:t>
                      </a:r>
                      <a:endParaRPr lang="en-IN" sz="1200" b="1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2908</Words>
  <Application>Microsoft Office PowerPoint</Application>
  <PresentationFormat>Widescreen</PresentationFormat>
  <Paragraphs>1186</Paragraphs>
  <Slides>26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Arial</vt:lpstr>
      <vt:lpstr>Calibri</vt:lpstr>
      <vt:lpstr>Calibri Light</vt:lpstr>
      <vt:lpstr>Times New Roman</vt:lpstr>
      <vt:lpstr>Wingdings</vt:lpstr>
      <vt:lpstr>Office Theme</vt:lpstr>
      <vt:lpstr>1_Office Theme</vt:lpstr>
      <vt:lpstr>REVIEW MEETING  OF  “SNA SPARSH IMPLEMENTATION IN MANIPUR’’ ON 27 JANUARY 2026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Annexures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Malemnganba Wairokpam</cp:lastModifiedBy>
  <cp:revision>254</cp:revision>
  <cp:lastPrinted>2026-01-24T02:32:00Z</cp:lastPrinted>
  <dcterms:created xsi:type="dcterms:W3CDTF">2025-08-15T05:12:00Z</dcterms:created>
  <dcterms:modified xsi:type="dcterms:W3CDTF">2026-01-24T07:15:25Z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A168125032984FFF981BB9826B79DC19_12</vt:lpwstr>
  </property>
  <property fmtid="{D5CDD505-2E9C-101B-9397-08002B2CF9AE}" pid="3" name="KSOProductBuildVer">
    <vt:lpwstr>1033-12.2.0.23196</vt:lpwstr>
  </property>
</Properties>
</file>